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98" autoAdjust="0"/>
    <p:restoredTop sz="96247" autoAdjust="0"/>
  </p:normalViewPr>
  <p:slideViewPr>
    <p:cSldViewPr snapToGrid="0">
      <p:cViewPr varScale="1">
        <p:scale>
          <a:sx n="104" d="100"/>
          <a:sy n="104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Somos la unidad de analítica de Veeduría Abierta. Investigamos si el recorte de Cundinamarca permite señalar entidades para revisión prioritaria.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cliente no puede revisarlo todo. El producto es una lista corta. Pero antes hay que saber si el indicador mide lo que creemos.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101.475 contratos. Ojo: 275 NIT pero 336 nombres de entidad — a eso volvemos.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Subimos el límite y paginamos con $offset, dejando intactos vigencia y territorio, que el brief sí congela. Esto lo reportamos al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brief exige registrar el criterio antes de ver los datos. Así el hallazgo no se elige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 robusto usa mediana y MAD, no media y desviación estándar, porque las colas pesadas de SECOP arrastran a estas últimas. Este umbral no lo movimos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Limpiar no es ejecutar dropna() hasta que el DataFrame se vea bonito. Cualquiera de los tres puede sustentar cualquiera de las tres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qué contradecimos la cápsula: la regla del NIT está escrita para proveedores. Lo verificamos entidad por entidad antes de decidir.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este filtro el indicador mide calidad del reporte, no comportamiento contractual, y la lista de priorización estaría completamente equivocada.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Usamos mediana justamente porque resiste: un puñado de errores de captura casi no la mueve. Si los $0 fueran errores, subestimaríamos el volumen de quien los concentra — por eso se conservan y se declaran.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detectamos imprimiendo todas las entidades de cada clase. El orden de las reglas importa: servicios públicos antes que municipio, y salud antes que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cifra se regenera ejecutando el cuaderno de principio a fin. Ninguna se escribió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52 alcaldías comparables. Mediana 82,7 %. Soacha 97,4 % sobre 5.857 contratos, z = 1,90. Nadie cruza el umbral.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Ciclo presupuestal: los contratos de prestación de servicios se firman o renuevan al comenzar la vigencia fiscal.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Priorizar por cuantía llevaría a revisar siempre a los municipios más grandes.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objeción salió de nuestra propia duda pendiente en E1. Un analista se objeta a sí mismo antes de que lo haga 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 es una de las cuatro confusoras típicas de SECOP: el objeto contractual.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Crudo +14,7 pp. Dentro de prestación de servicios +4,1 pp: la objeción gana. Fuera de ella +30,8 pp, que es donde las modalidades competitivas son la vía ordinaria y la elección sí admite margen.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qué no respaldada del todo: la evidencia alcanza para ordenar por dónde empezar, no para afirmar una anomalía estadística fuerte. Bajar el umbral después de ver los resultados habría sido hacer trampa con nuestro propio criterio.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cálculo de potencia sobre el valor sin transformar pedía 506.000 contratos por grupo: no faltan datos, la prueba está mal planteada sobre una variable con colas así. Por eso todo el informe reporta medianas.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el aporte del análisis no fue señalar entidades, sino corregir el indicador con el que la organización pretendía señalarlas.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691D7E6-B46B-EDCA-7A3A-BF6D3E0D76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35347DC-E718-9931-5E3A-08DE46352F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68453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5326EA0-132D-DF9B-4264-C193F8F6B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8304" y="1122363"/>
            <a:ext cx="4711147" cy="2387600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22643-DFEA-C4DB-BB79-DE19E6404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8303" y="3602038"/>
            <a:ext cx="4711147" cy="1655762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5FBD7D-8B8A-1FF2-0FF3-4CA0D38D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1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98FFC57-4AE0-6899-BB5B-08441A54BE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066"/>
          <a:stretch/>
        </p:blipFill>
        <p:spPr>
          <a:xfrm>
            <a:off x="0" y="0"/>
            <a:ext cx="12192000" cy="128111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DC81DDD-240E-C255-620C-97AD4BFB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04" y="0"/>
            <a:ext cx="9885397" cy="1281114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4B87D7-ED7E-1DA7-A059-9E81AB8D4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9957"/>
            <a:ext cx="10515600" cy="4591878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822687-C24C-F8A6-11B0-5AB65F00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59BEC-E07B-5A4F-8045-031BB168820A}" type="datetimeFigureOut">
              <a:rPr lang="es-CO" smtClean="0"/>
              <a:t>2/02/2024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F0A4C-372B-55A8-752B-08345192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2734F0-A67A-FAE5-9D42-2ADFFB01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2F4F-FC6F-0C4B-95DC-B8EE4F3DC28E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F1D3DB3-55C3-BFD1-344F-E9A07E6233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1590" y="65530"/>
            <a:ext cx="1978799" cy="112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9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B9351-913D-7E24-B597-22A756342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062288"/>
            <a:ext cx="8182941" cy="1500187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EA1E88-787E-2A87-C9A4-7A4BA4BBA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3"/>
            <a:ext cx="8182941" cy="1500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003FE6-C936-0937-C8D2-88D94DC5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059BEC-E07B-5A4F-8045-031BB168820A}" type="datetimeFigureOut">
              <a:rPr lang="es-CO" smtClean="0"/>
              <a:pPr/>
              <a:t>2/02/2024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3B8B3A-B2C2-714F-DF89-0B6C4FFCB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B4133B8-A328-3F25-CAA4-29FE20A448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0980"/>
          <a:stretch/>
        </p:blipFill>
        <p:spPr>
          <a:xfrm>
            <a:off x="9873049" y="0"/>
            <a:ext cx="2318951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786ED3A-8389-DFB7-1936-781CEE7248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44911"/>
          <a:stretch/>
        </p:blipFill>
        <p:spPr>
          <a:xfrm>
            <a:off x="9820919" y="0"/>
            <a:ext cx="2423209" cy="902677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42D818-E7A4-F1B9-3FC6-9C7A4674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710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A21F60A-1CFC-D6F6-6434-46FF999818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022"/>
          <a:stretch/>
        </p:blipFill>
        <p:spPr>
          <a:xfrm>
            <a:off x="-1" y="6107733"/>
            <a:ext cx="12201939" cy="75026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5E1761A-42E4-7FE7-3AEA-2294771E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295F8D-CE6E-F091-4FF3-4559482C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F42859-FA71-A595-AA65-9766661942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44911"/>
          <a:stretch/>
        </p:blipFill>
        <p:spPr>
          <a:xfrm>
            <a:off x="1" y="6034544"/>
            <a:ext cx="2210540" cy="82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6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A21F60A-1CFC-D6F6-6434-46FF999818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7283"/>
          <a:stretch/>
        </p:blipFill>
        <p:spPr>
          <a:xfrm>
            <a:off x="-1" y="6677891"/>
            <a:ext cx="12201939" cy="180109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295F8D-CE6E-F091-4FF3-4559482C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1886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31C4CF7-1125-9A70-016C-4DA1A13C7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CB40D5-7D4F-9BFA-DF36-6E44000E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059BEC-E07B-5A4F-8045-031BB168820A}" type="datetimeFigureOut">
              <a:rPr lang="es-CO" smtClean="0"/>
              <a:pPr/>
              <a:t>2/02/2024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914744-8BDC-6127-EAB7-2ED9531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0A8E3B-1DBC-47B5-8340-C2E65B2C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88090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3ACAD1-657E-1ADE-D268-99EDAAFF8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CBB97-5FF1-F2B7-FE18-E331DBC11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D0AD4E-FCA2-AEF6-47B0-451B5F602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Titillium" pitchFamily="2" charset="77"/>
              </a:defRPr>
            </a:lvl1pPr>
          </a:lstStyle>
          <a:p>
            <a:fld id="{64059BEC-E07B-5A4F-8045-031BB168820A}" type="datetimeFigureOut">
              <a:rPr lang="es-CO" smtClean="0"/>
              <a:pPr/>
              <a:t>2/02/2024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31A40C-2624-8350-B685-0F9463844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Titillium" pitchFamily="2" charset="77"/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79C86A-407F-4571-DF0D-43BFAB924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Titillium" pitchFamily="2" charset="77"/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746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6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accent1"/>
          </a:solidFill>
          <a:latin typeface="Titillium Web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itillium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Titillium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itillium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itillium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itillium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28816" y="1188720"/>
            <a:ext cx="5486400" cy="2148840"/>
          </a:xfrm>
        </p:spPr>
        <p:txBody>
          <a:bodyPr wrap="square"/>
          <a:lstStyle/>
          <a:p>
            <a:r>
              <a:rPr sz="3100" b="1">
                <a:solidFill>
                  <a:srgbClr val="FFFFFF"/>
                </a:solidFill>
                <a:latin typeface="Calibri"/>
              </a:rPr>
              <a:t>Contratación atípica en Cundinamarca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28816" y="3401568"/>
            <a:ext cx="5486400" cy="1737360"/>
          </a:xfrm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1500" b="0">
                <a:solidFill>
                  <a:srgbClr val="C9DDF5"/>
                </a:solidFill>
                <a:latin typeface="Calibri"/>
              </a:rPr>
              <a:t>Priorización de entidades a partir de SECOP II</a:t>
            </a:r>
          </a:p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Laboratorio SECOP · Expediente C · Equipo 5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C9DDF5"/>
                </a:solidFill>
                <a:latin typeface="Calibri"/>
              </a:rPr>
              <a:t>Neyder Sebastián Orozco Villamil · Marco Antonio Díaz González</a:t>
            </a:r>
          </a:p>
          <a:p>
            <a:pPr algn="ctr">
              <a:spcAft>
                <a:spcPts val="800"/>
              </a:spcAft>
            </a:pPr>
            <a:r>
              <a:rPr sz="1150" b="0">
                <a:solidFill>
                  <a:srgbClr val="C9DDF5"/>
                </a:solidFill>
                <a:latin typeface="Calibri"/>
              </a:rPr>
              <a:t>Miguel Ángel Espinosa Esparza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C9DDF5"/>
                </a:solidFill>
                <a:latin typeface="Calibri"/>
              </a:rPr>
              <a:t>4064 Data Analytics · Ing. Elías Buitrago Bolívar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53" y="5266944"/>
            <a:ext cx="5487164" cy="11260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El encargo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7276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LA AFIRMACIÓN A VERIFICAR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956816"/>
            <a:ext cx="5760720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5" y="2157984"/>
            <a:ext cx="53583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0B2E5C"/>
                </a:solidFill>
                <a:latin typeface="Calibri"/>
              </a:rPr>
              <a:t>«Algunas entidades del recorte presentan patrones contractuales que justifican una revisión prioritaria».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NUESTRO 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50208"/>
            <a:ext cx="5760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02124"/>
                </a:solidFill>
                <a:latin typeface="Calibri"/>
              </a:rPr>
              <a:t>Unidad de analítica de Veeduría Abierta, una organización ciudadana con capacidad de revisión limitada.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02124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02124"/>
                </a:solidFill>
                <a:latin typeface="Calibri"/>
              </a:rPr>
              <a:t>No puede revisar 101.475 contratos ni 275 entidades: necesita una lista corta y ordenada, con la razón por la que cada entidad entró en ella.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737360"/>
            <a:ext cx="4343400" cy="338328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69480" y="201168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5B9BD5"/>
                </a:solidFill>
                <a:latin typeface="Calibri"/>
              </a:rPr>
              <a:t>LA PREGUNTA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487168"/>
            <a:ext cx="37947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No es cuáles entidades destacan.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Es si lo que las hace destacar es su comportamiento contractual o una característica estructural ajena a él.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El recorte asignado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361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368"/>
                </a:solidFill>
                <a:latin typeface="Calibri"/>
              </a:rPr>
              <a:t>SECOP II · Departamento de Cundinamarca · firmas entre el 01-01-2024 y el 31-12-2025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057400"/>
            <a:ext cx="2450592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203704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3259A0"/>
                </a:solidFill>
                <a:latin typeface="Calibri"/>
              </a:rPr>
              <a:t>101.475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43784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contratos, cada fila un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contrato único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057400"/>
            <a:ext cx="2450592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21024" y="2203704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3259A0"/>
                </a:solidFill>
                <a:latin typeface="Calibri"/>
              </a:rPr>
              <a:t>275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1024" y="2843784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entidades contratantes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(336 nombres distintos)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1616" y="2057400"/>
            <a:ext cx="2450592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36207" y="2203704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3259A0"/>
                </a:solidFill>
                <a:latin typeface="Calibri"/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2843784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variables por contrato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057400"/>
            <a:ext cx="2450592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51392" y="2203704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3259A0"/>
                </a:solidFill>
                <a:latin typeface="Calibri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843784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meses de vigencia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cubiertos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886200"/>
            <a:ext cx="10296144" cy="182880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43000" y="411480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5B9BD5"/>
                </a:solidFill>
                <a:latin typeface="Calibri"/>
              </a:rPr>
              <a:t>LO PRIMERO QUE MIRAMOS, NO LO ÚLTIMO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55371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El 71,6 % del recorte se tramita por contratación directa. Un indicador que señale «contratación directa alta» sin una referencia de pares señalaría a casi todo el departamento.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Primera incidencia: el recorte venía truncado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544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2124"/>
                </a:solidFill>
                <a:latin typeface="Calibri"/>
              </a:rPr>
              <a:t>El cuaderno preparado traía MAX_FILAS = 50.000 y una sola llamada a la API.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148840"/>
            <a:ext cx="3200400" cy="15087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871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5F6368"/>
                </a:solidFill>
                <a:latin typeface="Calibri"/>
              </a:rPr>
              <a:t>50.000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99232"/>
            <a:ext cx="2871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lo que se habría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descargado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2148840"/>
            <a:ext cx="3200400" cy="15087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89120" y="2377440"/>
            <a:ext cx="2871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3259A0"/>
                </a:solidFill>
                <a:latin typeface="Calibri"/>
              </a:rPr>
              <a:t>101.475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999232"/>
            <a:ext cx="2871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lo que realmente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tiene el caso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07808" y="2148840"/>
            <a:ext cx="3529584" cy="1508760"/>
          </a:xfrm>
          <a:prstGeom prst="roundRect">
            <a:avLst>
              <a:gd name="adj" fmla="val 6000"/>
            </a:avLst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49,3 %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9923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del caso se habría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perdido en silencio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950208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POR QUÉ IMPORTABA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343400"/>
            <a:ext cx="1029614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02124"/>
                </a:solidFill>
                <a:latin typeface="Calibri"/>
              </a:rPr>
              <a:t>La consulta ordena por fecha de firma ascendente: el corte no habría sido aleatorio, habría eliminado el final del periodo — buena parte de 2025.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02124"/>
                </a:solidFill>
                <a:latin typeface="Calibri"/>
              </a:rPr>
              <a:t>Como la distribución temporal de las firmas es uno de nuestros tres indicadores, el análisis habría quedado invalidado de raíz, y nada en las tablas lo habría mostrado.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Decidir antes de mirar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700">
                <a:solidFill>
                  <a:srgbClr val="5F6368"/>
                </a:solidFill>
                <a:latin typeface="Calibri"/>
              </a:rPr>
              <a:t>El criterio que fijamos antes de calcular cualquier resultado</a:t>
            </a:r>
          </a:p>
        </p:txBody>
      </p:sp>
      <p:pic>
        <p:nvPicPr>
          <p:cNvPr id="4" name="Picture 3" descr="logo_s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46" y="5605229"/>
            <a:ext cx="2444739" cy="9688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El criterio previo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17904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TRES INDICADORES POR ENTIDAD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920240"/>
            <a:ext cx="3310128" cy="18288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42416" y="2103120"/>
            <a:ext cx="475488" cy="475488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21284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Proporción de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contratación directa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852928"/>
            <a:ext cx="290779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Contratos por contratación directa sobre el total de la entidad.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920240"/>
            <a:ext cx="3310128" cy="18288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35424" y="2103120"/>
            <a:ext cx="475488" cy="47548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1284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103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Concentración temporal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de las firmas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852928"/>
            <a:ext cx="290779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HHI mensual. Reparto uniforme = 0,042. Todo en un mes = 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7264" y="1920240"/>
            <a:ext cx="3310128" cy="18288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028432" y="2103120"/>
            <a:ext cx="475488" cy="475488"/>
          </a:xfrm>
          <a:prstGeom prst="ellipse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221284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2103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Cuantía mediana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del contrato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2852928"/>
            <a:ext cx="290779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Mediana, no media: las cuantías tienen colas pesadas.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297680"/>
            <a:ext cx="10296144" cy="141732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43000" y="4498848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5B9BD5"/>
                </a:solidFill>
                <a:latin typeface="Calibri"/>
              </a:rPr>
              <a:t>LA REFERENCIA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64608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La mediana de su grupo de pares, no un ideal abstracto.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98848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5B9BD5"/>
                </a:solidFill>
                <a:latin typeface="Calibri"/>
              </a:rPr>
              <a:t>EL UMBRAL, FIJADO DE ANTEMANO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86460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z robusto ≥ 2 en un indicador → revisión.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En dos o más → prioridad alta.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Tres decisiones de preparación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700">
                <a:solidFill>
                  <a:srgbClr val="5F6368"/>
                </a:solidFill>
                <a:latin typeface="Calibri"/>
              </a:rPr>
              <a:t>Cada una con su evidencia y con qué pasaría si estuviera equivocada</a:t>
            </a:r>
          </a:p>
        </p:txBody>
      </p:sp>
      <p:pic>
        <p:nvPicPr>
          <p:cNvPr id="4" name="Picture 3" descr="logo_s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46" y="5605229"/>
            <a:ext cx="2444739" cy="9688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Decisión 1 · La llave de identidad de la 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54480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LO QUE ENCONTRAMOS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38528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2124"/>
                </a:solidFill>
                <a:latin typeface="Calibri"/>
              </a:rPr>
              <a:t>275 números de identificación tributaria, pero 336 nombres de entidad. En 43 NIT aparece más de un nombre.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944368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78992" y="31455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2E5C"/>
                </a:solidFill>
                <a:latin typeface="Calibri"/>
              </a:rPr>
              <a:t>NIT 899999712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52044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Municipio de La Calera — 1.009 contratos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Concejo Municipal de La Calera — 31 contratos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Personería Municipal de La Calera — 10 contratos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38528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La unidad de análisis es el nombre de la entidad, no el NIT.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944368"/>
            <a:ext cx="4754880" cy="173736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39712" y="3145536"/>
            <a:ext cx="4242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69F00"/>
                </a:solidFill>
                <a:latin typeface="Calibri"/>
              </a:rPr>
              <a:t>CONTRADICE LA REGLA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3547872"/>
            <a:ext cx="42428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La cápsula dice agrupar por identificador numérico. Esa regla es correcta para proveedores, donde el NIT es una sola persona jurídica. Para entidades territoriales colombianas se invierte.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9560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F6368"/>
                </a:solidFill>
                <a:latin typeface="Calibri"/>
              </a:rPr>
              <a:t>Si nos equivocamos: agrupar por NIT fusionaría una alcaldía de miles de contratos con su concejo y su personería, y el indicador de la entidad fusionada no significaría nada.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Decisión 2 · La cobertura de reporte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544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02124"/>
                </a:solidFill>
                <a:latin typeface="Calibri"/>
              </a:rPr>
              <a:t>El ranking crudo de concentración temporal estaba encabezado por entidades que no contratan de forma atípica: reportan de forma incompleta.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487168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633472"/>
            <a:ext cx="28712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3259A0"/>
                </a:solidFill>
                <a:latin typeface="Calibri"/>
              </a:rPr>
              <a:t>15 de 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73552"/>
            <a:ext cx="2871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entidades territoriales con ≥ 100 contratos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publican en menos de 18 de los 24 meses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2487168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89120" y="2633472"/>
            <a:ext cx="28712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D55E00"/>
                </a:solidFill>
                <a:latin typeface="Calibri"/>
              </a:rPr>
              <a:t>3 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73552"/>
            <a:ext cx="2871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reporta la ESE de Tabio, con el 77,2 %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de sus contratos en uno solo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07808" y="2487168"/>
            <a:ext cx="3529584" cy="16002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0" y="263347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D55E00"/>
                </a:solidFill>
                <a:latin typeface="Calibri"/>
              </a:rPr>
              <a:t>6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273552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reporta la Alcaldía de Viotá,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con el HHI más alto del recorte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343400"/>
            <a:ext cx="10296144" cy="137160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43000" y="4544568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5B9BD5"/>
                </a:solidFill>
                <a:latin typeface="Calibri"/>
              </a:rPr>
              <a:t>LA DECISIÓN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19472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Comparamos solo entidades con ≥ 100 contratos y ≥ 18 meses de reporte. Las 15 apartadas no se borran: se entregan como lista de transparencia, que es un hallazgo de otra naturaleza.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Decisión 3 · Los ceros y los valores extremos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3619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LA TRAMPA DE LA MEDIA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920240"/>
            <a:ext cx="2450592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139696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00" b="1" i="0">
                <a:solidFill>
                  <a:srgbClr val="E69F00"/>
                </a:solidFill>
                <a:latin typeface="Calibri"/>
              </a:rPr>
              <a:t>$96,2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24912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media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1296" y="1920240"/>
            <a:ext cx="2450592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30168" y="2139696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00" b="1" i="0">
                <a:solidFill>
                  <a:srgbClr val="3259A0"/>
                </a:solidFill>
                <a:latin typeface="Calibri"/>
              </a:rPr>
              <a:t>$17,6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724912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mediana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4290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124"/>
                </a:solidFill>
                <a:latin typeface="Calibri"/>
              </a:rPr>
              <a:t>La media es 5,5 veces la mediana. El 0,1 % de contratos mayores —100 contratos— concentra el 34,9 % del valor total.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LA DECISIÓN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984248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No se elimina ninguna fila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76272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Ni un solo registro sale del análisis.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532888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Los 719 contratos en 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2491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Se excluyen solo del cálculo de la cuantía mediana; se conservan para los otros dos indicadores.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3300984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2369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Los extremos se conservan siempre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93008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Se describen con mediana y percentiles, nunca con media sola.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34340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F6368"/>
                </a:solidFill>
                <a:latin typeface="Calibri"/>
              </a:rPr>
              <a:t>En esta investigación el valor extremo puede ser el hallazgo, no el error. Eliminarlo sería amputar evidencia.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Los pares de 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3619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02124"/>
                </a:solidFill>
                <a:latin typeface="Calibri"/>
              </a:rPr>
              <a:t>El brief exige comparar frente a pares del mismo recorte y documentar la elección. Usamos dos llaves.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1945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60704" y="239572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LLAVE 1 · ORDEN ADMINISTRATIVO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2779776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F6368"/>
                </a:solidFill>
                <a:latin typeface="Calibri"/>
              </a:rPr>
              <a:t>Territorial, Nacional o Corporación Autónoma. Viene en el propio conjunto de datos.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8192" y="21945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27648" y="239572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LLAVE 2 · CLASE INSTITUCIONAL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779776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F6368"/>
                </a:solidFill>
                <a:latin typeface="Calibri"/>
              </a:rPr>
              <a:t>Variable derivada por el equipo: alcaldías, ESE y hospitales, concejos, personerías, empresas de servicios.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749039"/>
            <a:ext cx="10296144" cy="196596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3968496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69F00"/>
                </a:solidFill>
                <a:latin typeface="Calibri"/>
              </a:rPr>
              <a:t>UN ERROR QUE ENCONTRAMOS AUDITANDO LA CLASIFICACIÓN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70832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«Empresa de Servicios Públicos de Acueducto, Alcantarillado y Aseo del Municipio de Apulo» contiene la palabra municipio. Con las reglas en orden ingenuo quedaba clasificada como alcaldía y aparecía como la única alcaldía del recorte con 0 % de contratación directa: un falso hallazgo generado por la clasificación.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La evidencia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700">
                <a:solidFill>
                  <a:srgbClr val="5F6368"/>
                </a:solidFill>
                <a:latin typeface="Calibri"/>
              </a:rPr>
              <a:t>Tres tarjetas, cada una rastreable hasta una celda del cuaderno</a:t>
            </a:r>
          </a:p>
        </p:txBody>
      </p:sp>
      <p:pic>
        <p:nvPicPr>
          <p:cNvPr id="4" name="Picture 3" descr="logo_s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46" y="5605229"/>
            <a:ext cx="2444739" cy="9688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E1 · El indicador solo significa algo entre pares</a:t>
            </a:r>
          </a:p>
        </p:txBody>
      </p:sp>
      <p:pic>
        <p:nvPicPr>
          <p:cNvPr id="3" name="Picture 2" descr="fig03_celda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10296144" cy="389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440680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02124"/>
                </a:solidFill>
                <a:latin typeface="Calibri"/>
              </a:rPr>
              <a:t>Las ESE tramitan el 99,7 % por régimen especial; las alcaldías, el 86,7 % por contratación directa. Un ranking único ordena por el régimen legal, no por comportamiento.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8431" y="5358384"/>
            <a:ext cx="3108960" cy="8686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93024" y="5486400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3259A0"/>
                </a:solidFill>
                <a:latin typeface="Calibri"/>
              </a:rPr>
              <a:t>z = 1,90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3024" y="5870448"/>
            <a:ext cx="2779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F6368"/>
                </a:solidFill>
                <a:latin typeface="Calibri"/>
              </a:rPr>
              <a:t>el máximo del grupo, bajo el umbral de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E2 · La concentración temporal medía el reporte</a:t>
            </a:r>
          </a:p>
        </p:txBody>
      </p:sp>
      <p:pic>
        <p:nvPicPr>
          <p:cNvPr id="3" name="Picture 2" descr="fig04_celda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10296144" cy="38964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440680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02124"/>
                </a:solidFill>
                <a:latin typeface="Calibri"/>
              </a:rPr>
              <a:t>Las entidades con mayor índice están todas a la izquierda del umbral de cobertura. El pico de enero y febrero es de todo el departamento, no de una entidad.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8431" y="5358384"/>
            <a:ext cx="3108960" cy="8686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93024" y="5486400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37,8 %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3024" y="5870448"/>
            <a:ext cx="2779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F6368"/>
                </a:solidFill>
                <a:latin typeface="Calibri"/>
              </a:rPr>
              <a:t>de las firmas de 2025 son de enero y febrero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E3 · Las cuantías no sirven para priorizar</a:t>
            </a:r>
          </a:p>
        </p:txBody>
      </p:sp>
      <p:pic>
        <p:nvPicPr>
          <p:cNvPr id="3" name="Picture 2" descr="fig05_celd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10296144" cy="389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440680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02124"/>
                </a:solidFill>
                <a:latin typeface="Calibri"/>
              </a:rPr>
              <a:t>La cuantía mediana por entidad varía en un factor de 3,1, sin ningún salto de escala. El indicador parece medir capacidad fiscal del municipio.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8431" y="5358384"/>
            <a:ext cx="3108960" cy="8686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93024" y="5486400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009E73"/>
                </a:solidFill>
                <a:latin typeface="Calibri"/>
              </a:rPr>
              <a:t>34,9 %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3024" y="5870448"/>
            <a:ext cx="2779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F6368"/>
                </a:solidFill>
                <a:latin typeface="Calibri"/>
              </a:rPr>
              <a:t>del valor está en 100 contratos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¿La conclusión sobrevive?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700">
                <a:solidFill>
                  <a:srgbClr val="5F6368"/>
                </a:solidFill>
                <a:latin typeface="Calibri"/>
              </a:rPr>
              <a:t>Pusimos a prueba nuestro propio hallazgo antes de defenderlo</a:t>
            </a:r>
          </a:p>
        </p:txBody>
      </p:sp>
      <p:pic>
        <p:nvPicPr>
          <p:cNvPr id="4" name="Picture 3" descr="logo_s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46" y="5605229"/>
            <a:ext cx="2444739" cy="9688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 objeción y la variable de confusión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517904"/>
            <a:ext cx="10296144" cy="12344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1700784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D55E00"/>
                </a:solidFill>
                <a:latin typeface="Calibri"/>
              </a:rPr>
              <a:t>LA OBJECIÓN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66543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1">
                <a:solidFill>
                  <a:srgbClr val="0B2E5C"/>
                </a:solidFill>
                <a:latin typeface="Calibri"/>
              </a:rPr>
              <a:t>«El porcentaje de contratación directa no mide discrecionalidad, sino la composición del objeto contractual. Controlando por tipo de contrato, el hallazgo desaparece».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26080"/>
            <a:ext cx="102961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LA TRIPLETA QUE EXAMINAMOS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310128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42416" y="3493008"/>
            <a:ext cx="457200" cy="457200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5935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5112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La entidad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4041648"/>
            <a:ext cx="29809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Nombre de la entidad contratante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310128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498848" y="3493008"/>
            <a:ext cx="457200" cy="45720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35935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35112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Contratación directa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041648"/>
            <a:ext cx="29809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Proporción sobre su total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54112" y="3310128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955280" y="3493008"/>
            <a:ext cx="457200" cy="45720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35935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35112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El objeto contractual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4041648"/>
            <a:ext cx="29809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¿Es prestación de servicios o no?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919472"/>
            <a:ext cx="10296144" cy="86868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5084064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La objeción tenía razón en su premisa: la correlación de Spearman entre «qué parte de su contratación es prestación de servicios» y «qué parte tramita por directa» es de 0,877 entre 52 entidades.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 prueba: comparar dentro de estratos</a:t>
            </a:r>
          </a:p>
        </p:txBody>
      </p:sp>
      <p:pic>
        <p:nvPicPr>
          <p:cNvPr id="3" name="Picture 2" descr="fig07_celda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463040"/>
            <a:ext cx="8229600" cy="40732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669280"/>
            <a:ext cx="102961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0B2E5C"/>
                </a:solidFill>
                <a:latin typeface="Calibri"/>
              </a:rPr>
              <a:t>El tercer panel es el indicador que le recomendamos al cliente: contratación directa en los contratos que NO son de prestación de servicios.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Veredicto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517904"/>
            <a:ext cx="10296144" cy="114300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" y="1719072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PARCIALMENTE RESPALDADA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1945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B9BD5"/>
                </a:solidFill>
                <a:latin typeface="Calibri"/>
              </a:rPr>
              <a:t>Ninguna entidad cruza el umbral que fijamos antes de mirar los 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852928"/>
            <a:ext cx="102961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POR QUÉ NO BAJAMOS EL UMBRAL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36976"/>
            <a:ext cx="102961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02124"/>
                </a:solidFill>
                <a:latin typeface="Calibri"/>
              </a:rPr>
              <a:t>Cuando quedó claro que nadie alcanzaba z ≥ 2, la alternativa cómoda era bajar el umbral o cambiar de indicador hasta que algo saliera. Conservamos el criterio registrado. Esa es la decisión que no delegamos.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069080"/>
            <a:ext cx="102961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LO QUE SÍ SOSTIENE LA EVIDENCIA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452628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462272"/>
            <a:ext cx="10021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El indicador útil no es el que traíamos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718304"/>
            <a:ext cx="100218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Es «% de contratación directa en contratos que NO son de prestación de servicios».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507492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5010912"/>
            <a:ext cx="10021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Con él la lista corta se reordena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5266944"/>
            <a:ext cx="10021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Soacha 67,9 %, Tocancipá 63,3 %, Tenjo 62,1 %, Sopó y Madrid 60,8 %, Chía 60,4 % — frente a una mediana de grupo del 37,1 %.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Qué le entregamos al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17904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RECOMENDACIONES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9019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02124"/>
                </a:solidFill>
                <a:latin typeface="Calibri"/>
              </a:rPr>
              <a:t>Cambiar el indicador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15798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Restringirlo a los contratos que no son de prestación de servicios.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51460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0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02124"/>
                </a:solidFill>
                <a:latin typeface="Calibri"/>
              </a:rPr>
              <a:t>Tratar la lista como orden de revisión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0662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Nunca como señalamiento: ninguna cruza el umbral.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06324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999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02124"/>
                </a:solidFill>
                <a:latin typeface="Calibri"/>
              </a:rPr>
              <a:t>Separar la lista de transparencia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25526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Las 15 entidades con reporte incompleto van por otra vía.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61188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5478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02124"/>
                </a:solidFill>
                <a:latin typeface="Calibri"/>
              </a:rPr>
              <a:t>Pedir dos fuentes más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80390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La tabla de adiciones y la categorización municipal.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17904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D55E00"/>
                </a:solidFill>
                <a:latin typeface="Calibri"/>
              </a:rPr>
              <a:t>LO QUE NO PODEMOS AFIRMAR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01952"/>
            <a:ext cx="4754880" cy="31089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38544" y="2121408"/>
            <a:ext cx="4279392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El recorte no tiene ninguna variable de resultado del contrato: ni cumplimiento, ni sobrecostos, ni adiciones, ni hallazgos de control.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Tampoco un denominador de tamaño del municipio.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Controlamos una variable de confusión y declaramos tres sin controlar: capacidad fiscal, capacidad institucional y la vigencia.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Los datos no permiten imputar irregularidades a ninguna entidad ni persona.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El dato abierto no basta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600">
                <a:solidFill>
                  <a:srgbClr val="5F6368"/>
                </a:solidFill>
                <a:latin typeface="Calibri"/>
              </a:rPr>
              <a:t>Entre el dato publicado y la conclusión defendible median decisiones de preparación, una definición explícita de comparabilidad y el control deliberado de las explicaciones alternativas.</a:t>
            </a:r>
          </a:p>
        </p:txBody>
      </p:sp>
      <p:pic>
        <p:nvPicPr>
          <p:cNvPr id="4" name="Picture 3" descr="logo_s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46" y="5605229"/>
            <a:ext cx="2444739" cy="9688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" y="5532120"/>
            <a:ext cx="81838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259A0"/>
                </a:solidFill>
                <a:latin typeface="Calibri"/>
              </a:rPr>
              <a:t>Equipo 5 · Expediente C · Cundinamarca 2024-2025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7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3259A0"/>
      </a:accent1>
      <a:accent2>
        <a:srgbClr val="4472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Titillium</vt:lpstr>
      <vt:lpstr>Titillium Web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Orlando Bautistag</cp:lastModifiedBy>
  <cp:revision>6</cp:revision>
  <dcterms:created xsi:type="dcterms:W3CDTF">2024-01-22T20:11:52Z</dcterms:created>
  <dcterms:modified xsi:type="dcterms:W3CDTF">2024-02-03T04:20:47Z</dcterms:modified>
</cp:coreProperties>
</file>